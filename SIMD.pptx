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6"/>
  </p:notesMasterIdLst>
  <p:sldIdLst>
    <p:sldId id="256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301" r:id="rId10"/>
    <p:sldId id="298" r:id="rId11"/>
    <p:sldId id="299" r:id="rId12"/>
    <p:sldId id="300" r:id="rId13"/>
    <p:sldId id="302" r:id="rId14"/>
    <p:sldId id="303" r:id="rId15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4629"/>
    <a:srgbClr val="B9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30527A-D241-4572-B5A7-CB1BB3924C54}">
  <a:tblStyle styleId="{C730527A-D241-4572-B5A7-CB1BB3924C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1028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5180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1086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1376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5646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9657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5184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8908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092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73480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3143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7417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7705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3849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19313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413525" y="3317438"/>
            <a:ext cx="3158400" cy="7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413525" y="1736863"/>
            <a:ext cx="56823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0" y="455070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3"/>
          </p:nvPr>
        </p:nvSpPr>
        <p:spPr>
          <a:xfrm>
            <a:off x="1413525" y="2325113"/>
            <a:ext cx="56823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hasCustomPrompt="1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subTitle" idx="3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 txBox="1">
            <a:spLocks noGrp="1"/>
          </p:cNvSpPr>
          <p:nvPr>
            <p:ph type="subTitle" idx="1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7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type="title" hasCustomPrompt="1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4" name="Google Shape;174;p11"/>
          <p:cNvSpPr txBox="1">
            <a:spLocks noGrp="1"/>
          </p:cNvSpPr>
          <p:nvPr>
            <p:ph type="body" idx="1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chemeClr val="accent3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4" name="Google Shape;214;p1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133128" y="1280663"/>
            <a:ext cx="7422085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solidFill>
                  <a:srgbClr val="F74629"/>
                </a:solidFill>
              </a:rPr>
              <a:t>ВЕКТОРИЗАЦИЯ</a:t>
            </a:r>
            <a:r>
              <a:rPr lang="en" sz="4000" dirty="0"/>
              <a:t> </a:t>
            </a:r>
            <a:r>
              <a:rPr lang="ru-RU" sz="4000" dirty="0">
                <a:solidFill>
                  <a:schemeClr val="accent2"/>
                </a:solidFill>
              </a:rPr>
              <a:t>АЛГОРИТМОВ</a:t>
            </a:r>
            <a:r>
              <a:rPr lang="en" sz="4000" dirty="0">
                <a:solidFill>
                  <a:schemeClr val="accent2"/>
                </a:solidFill>
              </a:rPr>
              <a:t> </a:t>
            </a:r>
            <a:endParaRPr sz="4000"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133128" y="3260950"/>
            <a:ext cx="7305535" cy="7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dirty="0">
                <a:solidFill>
                  <a:schemeClr val="bg2">
                    <a:lumMod val="75000"/>
                  </a:schemeClr>
                </a:solidFill>
              </a:rPr>
              <a:t>&lt;</a:t>
            </a:r>
            <a:r>
              <a:rPr lang="ru-RU" sz="1850" dirty="0">
                <a:solidFill>
                  <a:schemeClr val="bg2">
                    <a:lumMod val="75000"/>
                  </a:schemeClr>
                </a:solidFill>
              </a:rPr>
              <a:t> ВЕКТОРНЫЕ РАСШИРЕНИЯ – В СТАНДАРТНЫЕ АЛГОРИТМЫ </a:t>
            </a:r>
            <a:r>
              <a:rPr lang="en" sz="1850" dirty="0">
                <a:solidFill>
                  <a:schemeClr val="bg2">
                    <a:lumMod val="75000"/>
                  </a:schemeClr>
                </a:solidFill>
              </a:rPr>
              <a:t>&gt;</a:t>
            </a:r>
            <a:endParaRPr sz="18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0" y="4694725"/>
            <a:ext cx="4566025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Ключевые особенности реализации: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5" name="Google Shape;255;p18"/>
          <p:cNvSpPr txBox="1">
            <a:spLocks noGrp="1"/>
          </p:cNvSpPr>
          <p:nvPr>
            <p:ph type="subTitle" idx="2"/>
          </p:nvPr>
        </p:nvSpPr>
        <p:spPr>
          <a:xfrm>
            <a:off x="1133134" y="1832538"/>
            <a:ext cx="730553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>
                <a:solidFill>
                  <a:schemeClr val="accent6"/>
                </a:solidFill>
              </a:rPr>
              <a:t>стандартной библиотеки С++</a:t>
            </a:r>
            <a:r>
              <a:rPr lang="en" sz="3500" dirty="0">
                <a:solidFill>
                  <a:schemeClr val="accent6"/>
                </a:solidFill>
              </a:rPr>
              <a:t> </a:t>
            </a:r>
            <a:endParaRPr sz="3500" dirty="0">
              <a:solidFill>
                <a:schemeClr val="accent6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Цель и задачи проекта: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Актуальность и проблема: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8" name="Google Shape;258;p18"/>
          <p:cNvSpPr txBox="1">
            <a:spLocks noGrp="1"/>
          </p:cNvSpPr>
          <p:nvPr>
            <p:ph type="subTitle" idx="1"/>
          </p:nvPr>
        </p:nvSpPr>
        <p:spPr>
          <a:xfrm>
            <a:off x="4572000" y="46947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Результаты и преимущества: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137746" y="1326845"/>
            <a:ext cx="7422085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dirty="0">
                <a:solidFill>
                  <a:srgbClr val="F74629"/>
                </a:solidFill>
              </a:rPr>
              <a:t>ЦЕЛЬ:</a:t>
            </a:r>
            <a:endParaRPr sz="5400" dirty="0">
              <a:solidFill>
                <a:srgbClr val="F74629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0" y="4694725"/>
            <a:ext cx="4566025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2"/>
                </a:solidFill>
              </a:rPr>
              <a:t>   </a:t>
            </a: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Цель и задачи проекта: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2"/>
                </a:solidFill>
              </a:rPr>
              <a:t>   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258" name="Google Shape;258;p18"/>
          <p:cNvSpPr txBox="1">
            <a:spLocks noGrp="1"/>
          </p:cNvSpPr>
          <p:nvPr>
            <p:ph type="subTitle" idx="1"/>
          </p:nvPr>
        </p:nvSpPr>
        <p:spPr>
          <a:xfrm>
            <a:off x="4572000" y="46947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2"/>
                </a:solidFill>
              </a:rPr>
              <a:t>   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4840D9FF-CDA8-443E-8ABA-4C6CAD09A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2961" y="1969383"/>
            <a:ext cx="7346870" cy="706800"/>
          </a:xfrm>
        </p:spPr>
        <p:txBody>
          <a:bodyPr/>
          <a:lstStyle/>
          <a:p>
            <a:pPr marL="0" indent="0"/>
            <a:r>
              <a:rPr lang="ru-RU" sz="2400" dirty="0"/>
              <a:t>Создать библиотеку, предоставляющую векторизованные аналоги ключевых алгоритмов стандартной библиотеки C++ </a:t>
            </a:r>
          </a:p>
          <a:p>
            <a:pPr marL="0" indent="0"/>
            <a:r>
              <a:rPr lang="ru-RU" sz="2400" dirty="0"/>
              <a:t>с сохранением простоты </a:t>
            </a:r>
          </a:p>
          <a:p>
            <a:pPr marL="0" indent="0"/>
            <a:r>
              <a:rPr lang="ru-RU" sz="2400" dirty="0"/>
              <a:t>их использования.</a:t>
            </a:r>
            <a:endParaRPr lang="ru-BY" sz="2400" dirty="0"/>
          </a:p>
        </p:txBody>
      </p:sp>
    </p:spTree>
    <p:extLst>
      <p:ext uri="{BB962C8B-B14F-4D97-AF65-F5344CB8AC3E}">
        <p14:creationId xmlns:p14="http://schemas.microsoft.com/office/powerpoint/2010/main" val="3123083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137745" y="910750"/>
            <a:ext cx="7422085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solidFill>
                  <a:schemeClr val="accent2"/>
                </a:solidFill>
              </a:rPr>
              <a:t>ЗАДАЧИ:</a:t>
            </a:r>
            <a:endParaRPr sz="4000" dirty="0">
              <a:solidFill>
                <a:schemeClr val="accent2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0" y="4694725"/>
            <a:ext cx="4566025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2"/>
                </a:solidFill>
              </a:rPr>
              <a:t>   </a:t>
            </a: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Цель и задачи проекта: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2"/>
                </a:solidFill>
              </a:rPr>
              <a:t>   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258" name="Google Shape;258;p18"/>
          <p:cNvSpPr txBox="1">
            <a:spLocks noGrp="1"/>
          </p:cNvSpPr>
          <p:nvPr>
            <p:ph type="subTitle" idx="1"/>
          </p:nvPr>
        </p:nvSpPr>
        <p:spPr>
          <a:xfrm>
            <a:off x="4572000" y="46947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2"/>
                </a:solidFill>
              </a:rPr>
              <a:t>   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4840D9FF-CDA8-443E-8ABA-4C6CAD09A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5352" y="1465393"/>
            <a:ext cx="7346870" cy="706800"/>
          </a:xfrm>
        </p:spPr>
        <p:txBody>
          <a:bodyPr/>
          <a:lstStyle/>
          <a:p>
            <a:pPr marL="285750" indent="-285750">
              <a:buClr>
                <a:schemeClr val="accent2"/>
              </a:buClr>
              <a:buSzPct val="124000"/>
              <a:buFont typeface="Wingdings" panose="05000000000000000000" pitchFamily="2" charset="2"/>
              <a:buChar char="§"/>
            </a:pPr>
            <a:r>
              <a:rPr lang="ru-RU" sz="1500" dirty="0"/>
              <a:t>Исследовать возможности автоматической и ручной векторизации в компиляторах.</a:t>
            </a:r>
          </a:p>
          <a:p>
            <a:pPr marL="285750" indent="-285750">
              <a:buClr>
                <a:schemeClr val="accent2"/>
              </a:buClr>
              <a:buSzPct val="124000"/>
              <a:buFont typeface="Wingdings" panose="05000000000000000000" pitchFamily="2" charset="2"/>
              <a:buChar char="§"/>
            </a:pPr>
            <a:endParaRPr lang="ru-RU" sz="400" dirty="0"/>
          </a:p>
          <a:p>
            <a:pPr marL="285750" indent="-285750">
              <a:buClr>
                <a:schemeClr val="accent2"/>
              </a:buClr>
              <a:buSzPct val="124000"/>
              <a:buFont typeface="Wingdings" panose="05000000000000000000" pitchFamily="2" charset="2"/>
              <a:buChar char="§"/>
            </a:pPr>
            <a:r>
              <a:rPr lang="ru-RU" sz="1500" dirty="0"/>
              <a:t>Разработать шаблонный интерфейс, абстрагирующий низкоуровневые SIMD-инструкции.</a:t>
            </a:r>
          </a:p>
          <a:p>
            <a:pPr marL="285750" indent="-285750">
              <a:buClr>
                <a:schemeClr val="accent2"/>
              </a:buClr>
              <a:buSzPct val="124000"/>
              <a:buFont typeface="Wingdings" panose="05000000000000000000" pitchFamily="2" charset="2"/>
              <a:buChar char="§"/>
            </a:pPr>
            <a:endParaRPr lang="ru-RU" sz="400" dirty="0"/>
          </a:p>
          <a:p>
            <a:pPr marL="285750" indent="-285750">
              <a:buClr>
                <a:schemeClr val="accent2"/>
              </a:buClr>
              <a:buSzPct val="124000"/>
              <a:buFont typeface="Wingdings" panose="05000000000000000000" pitchFamily="2" charset="2"/>
              <a:buChar char="§"/>
            </a:pPr>
            <a:r>
              <a:rPr lang="ru-RU" sz="1500" dirty="0"/>
              <a:t>Реализовать оптимизированные ядра для ключевых алгоритмов (преобразования, редукции, поиска, сортировки).</a:t>
            </a:r>
          </a:p>
          <a:p>
            <a:pPr marL="285750" indent="-285750">
              <a:buClr>
                <a:schemeClr val="accent2"/>
              </a:buClr>
              <a:buSzPct val="124000"/>
              <a:buFont typeface="Wingdings" panose="05000000000000000000" pitchFamily="2" charset="2"/>
              <a:buChar char="§"/>
            </a:pPr>
            <a:endParaRPr lang="ru-RU" sz="400" dirty="0"/>
          </a:p>
          <a:p>
            <a:pPr marL="285750" indent="-285750">
              <a:buClr>
                <a:schemeClr val="accent2"/>
              </a:buClr>
              <a:buSzPct val="124000"/>
              <a:buFont typeface="Wingdings" panose="05000000000000000000" pitchFamily="2" charset="2"/>
              <a:buChar char="§"/>
            </a:pPr>
            <a:r>
              <a:rPr lang="ru-RU" sz="1500" dirty="0"/>
              <a:t>Обеспечить автоматическую диспетчеризацию кода в зависимости от поддерживаемого процессором набора инструкций </a:t>
            </a:r>
          </a:p>
          <a:p>
            <a:pPr marL="0" indent="268288">
              <a:buClr>
                <a:schemeClr val="accent2"/>
              </a:buClr>
              <a:buSzPct val="124000"/>
            </a:pPr>
            <a:r>
              <a:rPr lang="ru-RU" sz="1500" dirty="0"/>
              <a:t>(Runtime Dispatch).</a:t>
            </a:r>
          </a:p>
          <a:p>
            <a:pPr marL="285750" indent="-285750">
              <a:buClr>
                <a:schemeClr val="accent2"/>
              </a:buClr>
              <a:buSzPct val="124000"/>
              <a:buFont typeface="Wingdings" panose="05000000000000000000" pitchFamily="2" charset="2"/>
              <a:buChar char="§"/>
            </a:pPr>
            <a:endParaRPr lang="ru-RU" sz="400" dirty="0"/>
          </a:p>
          <a:p>
            <a:pPr marL="285750" indent="-285750">
              <a:buClr>
                <a:schemeClr val="accent2"/>
              </a:buClr>
              <a:buSzPct val="124000"/>
              <a:buFont typeface="Wingdings" panose="05000000000000000000" pitchFamily="2" charset="2"/>
              <a:buChar char="§"/>
            </a:pPr>
            <a:r>
              <a:rPr lang="ru-RU" sz="1500" dirty="0"/>
              <a:t>Провести сравнительный анализ производительности </a:t>
            </a:r>
          </a:p>
          <a:p>
            <a:pPr marL="268288" indent="0">
              <a:buClr>
                <a:schemeClr val="accent2"/>
              </a:buClr>
              <a:buSzPct val="124000"/>
            </a:pPr>
            <a:r>
              <a:rPr lang="ru-RU" sz="1500" dirty="0"/>
              <a:t>с std::алгоритмами.</a:t>
            </a:r>
          </a:p>
        </p:txBody>
      </p:sp>
    </p:spTree>
    <p:extLst>
      <p:ext uri="{BB962C8B-B14F-4D97-AF65-F5344CB8AC3E}">
        <p14:creationId xmlns:p14="http://schemas.microsoft.com/office/powerpoint/2010/main" val="3273170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30109" y="914332"/>
            <a:ext cx="7422085" cy="13378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accent2"/>
                </a:solidFill>
              </a:rPr>
              <a:t>Недоиспользование ресурсов: </a:t>
            </a:r>
            <a:r>
              <a:rPr lang="ru-RU" sz="1400" dirty="0">
                <a:solidFill>
                  <a:schemeClr val="accent6"/>
                </a:solidFill>
              </a:rPr>
              <a:t>стандартные алгоритмы (</a:t>
            </a:r>
            <a:r>
              <a:rPr lang="en-US" sz="1400" dirty="0">
                <a:solidFill>
                  <a:schemeClr val="accent6"/>
                </a:solidFill>
              </a:rPr>
              <a:t>std::transform, std::reduce, std::sort </a:t>
            </a:r>
            <a:r>
              <a:rPr lang="ru-RU" sz="1400" dirty="0">
                <a:solidFill>
                  <a:schemeClr val="accent6"/>
                </a:solidFill>
              </a:rPr>
              <a:t>и др.) работают скалярно, обрабатывая по одному элементу за такт, в то время как современные процессоры оснащены </a:t>
            </a:r>
            <a:r>
              <a:rPr lang="en-US" sz="1400" dirty="0">
                <a:solidFill>
                  <a:schemeClr val="accent6"/>
                </a:solidFill>
              </a:rPr>
              <a:t>SIMD (Single Instruction, Multiple Data) </a:t>
            </a:r>
            <a:r>
              <a:rPr lang="ru-RU" sz="1400" dirty="0">
                <a:solidFill>
                  <a:schemeClr val="accent6"/>
                </a:solidFill>
              </a:rPr>
              <a:t>регистрами и инструкциями (</a:t>
            </a:r>
            <a:r>
              <a:rPr lang="en-US" sz="1400" dirty="0">
                <a:solidFill>
                  <a:schemeClr val="accent6"/>
                </a:solidFill>
              </a:rPr>
              <a:t>SSE, AVX, AVX-512).</a:t>
            </a:r>
            <a:r>
              <a:rPr lang="ru-RU" sz="1400" dirty="0">
                <a:solidFill>
                  <a:schemeClr val="accent6"/>
                </a:solidFill>
              </a:rPr>
              <a:t> </a:t>
            </a:r>
            <a:r>
              <a:rPr lang="en" sz="1400" dirty="0">
                <a:solidFill>
                  <a:schemeClr val="accent6"/>
                </a:solidFill>
              </a:rPr>
              <a:t> </a:t>
            </a:r>
            <a:endParaRPr sz="1400" dirty="0">
              <a:solidFill>
                <a:schemeClr val="accent6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-5975" y="46947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  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  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Актуальность и проблема: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8" name="Google Shape;258;p18"/>
          <p:cNvSpPr txBox="1">
            <a:spLocks noGrp="1"/>
          </p:cNvSpPr>
          <p:nvPr>
            <p:ph type="subTitle" idx="1"/>
          </p:nvPr>
        </p:nvSpPr>
        <p:spPr>
          <a:xfrm>
            <a:off x="4572000" y="46947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  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5" name="Google Shape;252;p18">
            <a:extLst>
              <a:ext uri="{FF2B5EF4-FFF2-40B4-BE49-F238E27FC236}">
                <a16:creationId xmlns:a16="http://schemas.microsoft.com/office/drawing/2014/main" id="{0AD5914B-B8BF-4D69-9C64-D789DDAF3175}"/>
              </a:ext>
            </a:extLst>
          </p:cNvPr>
          <p:cNvSpPr txBox="1">
            <a:spLocks/>
          </p:cNvSpPr>
          <p:nvPr/>
        </p:nvSpPr>
        <p:spPr>
          <a:xfrm>
            <a:off x="1230109" y="2116554"/>
            <a:ext cx="7422085" cy="133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ru-RU" sz="2000" dirty="0">
                <a:solidFill>
                  <a:schemeClr val="accent2"/>
                </a:solidFill>
              </a:rPr>
              <a:t>Упущенная выгода: </a:t>
            </a:r>
            <a:r>
              <a:rPr lang="ru-RU" sz="1400" dirty="0">
                <a:solidFill>
                  <a:schemeClr val="accent6"/>
                </a:solidFill>
              </a:rPr>
              <a:t>это приводит к неэффективному использованию вычислительной мощности. Векторизация позволяет обрабатывать от 4 до 16 (и более) элементов данных одной инструкцией, давая потенциальное ускорение.</a:t>
            </a:r>
            <a:endParaRPr lang="en-US" sz="1400" dirty="0">
              <a:solidFill>
                <a:schemeClr val="accent6"/>
              </a:solidFill>
            </a:endParaRPr>
          </a:p>
        </p:txBody>
      </p:sp>
      <p:sp>
        <p:nvSpPr>
          <p:cNvPr id="16" name="Google Shape;252;p18">
            <a:extLst>
              <a:ext uri="{FF2B5EF4-FFF2-40B4-BE49-F238E27FC236}">
                <a16:creationId xmlns:a16="http://schemas.microsoft.com/office/drawing/2014/main" id="{AE0C1A50-E953-447E-B68E-3894F9E965F6}"/>
              </a:ext>
            </a:extLst>
          </p:cNvPr>
          <p:cNvSpPr txBox="1">
            <a:spLocks/>
          </p:cNvSpPr>
          <p:nvPr/>
        </p:nvSpPr>
        <p:spPr>
          <a:xfrm>
            <a:off x="1230109" y="3049427"/>
            <a:ext cx="7422085" cy="133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ru-RU" sz="2000" dirty="0">
                <a:solidFill>
                  <a:schemeClr val="accent2"/>
                </a:solidFill>
              </a:rPr>
              <a:t>Сложность для пользователя: </a:t>
            </a:r>
            <a:r>
              <a:rPr lang="ru-RU" sz="1400" dirty="0">
                <a:solidFill>
                  <a:schemeClr val="accent6"/>
                </a:solidFill>
              </a:rPr>
              <a:t>ручная векторизация требует глубокого знания низкоуровневых инструкций, не переносима между архитектурами и усложняет код.</a:t>
            </a:r>
            <a:endParaRPr lang="en-US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965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0" y="4694725"/>
            <a:ext cx="4566025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Ключевые особенности реализации: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  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  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8" name="Google Shape;258;p18"/>
          <p:cNvSpPr txBox="1">
            <a:spLocks noGrp="1"/>
          </p:cNvSpPr>
          <p:nvPr>
            <p:ph type="subTitle" idx="1"/>
          </p:nvPr>
        </p:nvSpPr>
        <p:spPr>
          <a:xfrm>
            <a:off x="4572000" y="46947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  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5" name="Подзаголовок 4">
            <a:extLst>
              <a:ext uri="{FF2B5EF4-FFF2-40B4-BE49-F238E27FC236}">
                <a16:creationId xmlns:a16="http://schemas.microsoft.com/office/drawing/2014/main" id="{0568ACD1-B61B-4C22-95B0-F7EF9208CC9F}"/>
              </a:ext>
            </a:extLst>
          </p:cNvPr>
          <p:cNvSpPr txBox="1">
            <a:spLocks/>
          </p:cNvSpPr>
          <p:nvPr/>
        </p:nvSpPr>
        <p:spPr>
          <a:xfrm>
            <a:off x="1133788" y="694157"/>
            <a:ext cx="7346870" cy="63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Clr>
                <a:srgbClr val="F74629"/>
              </a:buClr>
              <a:buSzPct val="124000"/>
            </a:pPr>
            <a:r>
              <a:rPr lang="ru-RU" sz="1500" dirty="0">
                <a:solidFill>
                  <a:srgbClr val="F74629"/>
                </a:solidFill>
              </a:rPr>
              <a:t>Идиоматичный </a:t>
            </a:r>
            <a:r>
              <a:rPr lang="en-US" sz="1500" dirty="0">
                <a:solidFill>
                  <a:srgbClr val="F74629"/>
                </a:solidFill>
              </a:rPr>
              <a:t>C++ </a:t>
            </a:r>
            <a:r>
              <a:rPr lang="ru-RU" sz="1500" dirty="0">
                <a:solidFill>
                  <a:srgbClr val="F74629"/>
                </a:solidFill>
              </a:rPr>
              <a:t>интерфейс: </a:t>
            </a:r>
            <a:r>
              <a:rPr lang="en-US" sz="1500" dirty="0"/>
              <a:t>API, </a:t>
            </a:r>
            <a:r>
              <a:rPr lang="ru-RU" sz="1500" dirty="0"/>
              <a:t>аналогичный </a:t>
            </a:r>
            <a:r>
              <a:rPr lang="en-US" sz="1500" dirty="0"/>
              <a:t>STL (</a:t>
            </a:r>
            <a:r>
              <a:rPr lang="ru-RU" sz="1500" dirty="0"/>
              <a:t>итераторы, функторы), минимизирующий порог входа.</a:t>
            </a:r>
          </a:p>
          <a:p>
            <a:pPr marL="0" indent="0">
              <a:buClr>
                <a:srgbClr val="F74629"/>
              </a:buClr>
              <a:buSzPct val="124000"/>
            </a:pPr>
            <a:endParaRPr lang="ru-RU" sz="400" dirty="0"/>
          </a:p>
          <a:p>
            <a:pPr marL="285750" indent="-285750">
              <a:buClr>
                <a:schemeClr val="accent2"/>
              </a:buClr>
              <a:buSzPct val="124000"/>
              <a:buFont typeface="Wingdings" panose="05000000000000000000" pitchFamily="2" charset="2"/>
              <a:buChar char="§"/>
            </a:pPr>
            <a:endParaRPr lang="ru-RU" sz="400" dirty="0"/>
          </a:p>
        </p:txBody>
      </p:sp>
      <p:sp>
        <p:nvSpPr>
          <p:cNvPr id="16" name="Подзаголовок 4">
            <a:extLst>
              <a:ext uri="{FF2B5EF4-FFF2-40B4-BE49-F238E27FC236}">
                <a16:creationId xmlns:a16="http://schemas.microsoft.com/office/drawing/2014/main" id="{DBCE6A84-765D-4484-9DF3-082874881C7B}"/>
              </a:ext>
            </a:extLst>
          </p:cNvPr>
          <p:cNvSpPr txBox="1">
            <a:spLocks/>
          </p:cNvSpPr>
          <p:nvPr/>
        </p:nvSpPr>
        <p:spPr>
          <a:xfrm>
            <a:off x="1133788" y="1330037"/>
            <a:ext cx="7346870" cy="678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Clr>
                <a:srgbClr val="F74629"/>
              </a:buClr>
              <a:buSzPct val="124000"/>
            </a:pPr>
            <a:r>
              <a:rPr lang="ru-RU" sz="1500" dirty="0">
                <a:solidFill>
                  <a:srgbClr val="F74629"/>
                </a:solidFill>
              </a:rPr>
              <a:t>Абстракция над </a:t>
            </a:r>
            <a:r>
              <a:rPr lang="en-US" sz="1500" dirty="0">
                <a:solidFill>
                  <a:srgbClr val="F74629"/>
                </a:solidFill>
              </a:rPr>
              <a:t>ISA</a:t>
            </a:r>
            <a:r>
              <a:rPr lang="ru-RU" sz="1500" dirty="0">
                <a:solidFill>
                  <a:srgbClr val="F74629"/>
                </a:solidFill>
              </a:rPr>
              <a:t>: </a:t>
            </a:r>
            <a:r>
              <a:rPr lang="ru-RU" sz="1500" dirty="0"/>
              <a:t>использование интринсиков компилятора для кроссплатформенной поддержки (x86-64).</a:t>
            </a:r>
            <a:endParaRPr lang="ru-RU" sz="400" dirty="0"/>
          </a:p>
        </p:txBody>
      </p:sp>
      <p:sp>
        <p:nvSpPr>
          <p:cNvPr id="17" name="Подзаголовок 4">
            <a:extLst>
              <a:ext uri="{FF2B5EF4-FFF2-40B4-BE49-F238E27FC236}">
                <a16:creationId xmlns:a16="http://schemas.microsoft.com/office/drawing/2014/main" id="{5EE7A39B-5A1E-427E-951E-B4C6A0A56A10}"/>
              </a:ext>
            </a:extLst>
          </p:cNvPr>
          <p:cNvSpPr txBox="1">
            <a:spLocks/>
          </p:cNvSpPr>
          <p:nvPr/>
        </p:nvSpPr>
        <p:spPr>
          <a:xfrm>
            <a:off x="1133788" y="2005994"/>
            <a:ext cx="7346870" cy="88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Clr>
                <a:srgbClr val="F74629"/>
              </a:buClr>
              <a:buSzPct val="124000"/>
            </a:pPr>
            <a:r>
              <a:rPr lang="ru-RU" sz="1500" dirty="0">
                <a:solidFill>
                  <a:srgbClr val="F74629"/>
                </a:solidFill>
              </a:rPr>
              <a:t>Автоматическая диспетчеризация: </a:t>
            </a:r>
            <a:r>
              <a:rPr lang="ru-RU" sz="1500" dirty="0"/>
              <a:t>библиотека определяет возможности CPU во время выполнения и выбирает оптимальную реализацию (AVX2, SSE4, скалярный fallback).</a:t>
            </a:r>
            <a:endParaRPr lang="ru-RU" sz="400" dirty="0"/>
          </a:p>
        </p:txBody>
      </p:sp>
      <p:sp>
        <p:nvSpPr>
          <p:cNvPr id="18" name="Подзаголовок 4">
            <a:extLst>
              <a:ext uri="{FF2B5EF4-FFF2-40B4-BE49-F238E27FC236}">
                <a16:creationId xmlns:a16="http://schemas.microsoft.com/office/drawing/2014/main" id="{2A1B1E0B-EA4A-4149-A5B8-37CBCEB4846C}"/>
              </a:ext>
            </a:extLst>
          </p:cNvPr>
          <p:cNvSpPr txBox="1">
            <a:spLocks/>
          </p:cNvSpPr>
          <p:nvPr/>
        </p:nvSpPr>
        <p:spPr>
          <a:xfrm>
            <a:off x="1133788" y="2891256"/>
            <a:ext cx="7346870" cy="88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Clr>
                <a:srgbClr val="F74629"/>
              </a:buClr>
              <a:buSzPct val="124000"/>
            </a:pPr>
            <a:r>
              <a:rPr lang="ru-RU" sz="1500" dirty="0">
                <a:solidFill>
                  <a:srgbClr val="F74629"/>
                </a:solidFill>
              </a:rPr>
              <a:t>Оптимизация под линейные данные: </a:t>
            </a:r>
            <a:r>
              <a:rPr lang="ru-RU" sz="1500" dirty="0"/>
              <a:t>алгоритмы оптимизированы для работы с непрерывными массивами данных (std::vector, std::array</a:t>
            </a:r>
            <a:r>
              <a:rPr lang="en-US" sz="1500" dirty="0"/>
              <a:t>, std::span, std::flat_map</a:t>
            </a:r>
            <a:r>
              <a:rPr lang="ru-RU" sz="1500" dirty="0"/>
              <a:t>).</a:t>
            </a:r>
          </a:p>
        </p:txBody>
      </p:sp>
      <p:sp>
        <p:nvSpPr>
          <p:cNvPr id="19" name="Подзаголовок 4">
            <a:extLst>
              <a:ext uri="{FF2B5EF4-FFF2-40B4-BE49-F238E27FC236}">
                <a16:creationId xmlns:a16="http://schemas.microsoft.com/office/drawing/2014/main" id="{5FA91183-05F6-40CD-A313-BB6279DEFEDC}"/>
              </a:ext>
            </a:extLst>
          </p:cNvPr>
          <p:cNvSpPr txBox="1">
            <a:spLocks/>
          </p:cNvSpPr>
          <p:nvPr/>
        </p:nvSpPr>
        <p:spPr>
          <a:xfrm>
            <a:off x="1133788" y="3773602"/>
            <a:ext cx="7346870" cy="88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Clr>
                <a:srgbClr val="F74629"/>
              </a:buClr>
              <a:buSzPct val="124000"/>
            </a:pPr>
            <a:r>
              <a:rPr lang="ru-RU" sz="1500" dirty="0">
                <a:solidFill>
                  <a:srgbClr val="F74629"/>
                </a:solidFill>
              </a:rPr>
              <a:t>Поддержка типов данных: </a:t>
            </a:r>
            <a:r>
              <a:rPr lang="ru-RU" sz="1500" dirty="0"/>
              <a:t>векторизация для целочисленных типов и чисел с плавающей запятой.</a:t>
            </a:r>
          </a:p>
        </p:txBody>
      </p:sp>
    </p:spTree>
    <p:extLst>
      <p:ext uri="{BB962C8B-B14F-4D97-AF65-F5344CB8AC3E}">
        <p14:creationId xmlns:p14="http://schemas.microsoft.com/office/powerpoint/2010/main" val="550494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0" y="4694725"/>
            <a:ext cx="4566025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  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  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  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8" name="Google Shape;258;p18"/>
          <p:cNvSpPr txBox="1">
            <a:spLocks noGrp="1"/>
          </p:cNvSpPr>
          <p:nvPr>
            <p:ph type="subTitle" idx="1"/>
          </p:nvPr>
        </p:nvSpPr>
        <p:spPr>
          <a:xfrm>
            <a:off x="4572000" y="46947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Результаты и преимущества: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5" name="Подзаголовок 4">
            <a:extLst>
              <a:ext uri="{FF2B5EF4-FFF2-40B4-BE49-F238E27FC236}">
                <a16:creationId xmlns:a16="http://schemas.microsoft.com/office/drawing/2014/main" id="{DCDCFAC9-99C6-4D5E-83FA-BFCD2E988C16}"/>
              </a:ext>
            </a:extLst>
          </p:cNvPr>
          <p:cNvSpPr txBox="1">
            <a:spLocks/>
          </p:cNvSpPr>
          <p:nvPr/>
        </p:nvSpPr>
        <p:spPr>
          <a:xfrm>
            <a:off x="1138406" y="795756"/>
            <a:ext cx="7346870" cy="1074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Clr>
                <a:srgbClr val="F74629"/>
              </a:buClr>
              <a:buSzPct val="124000"/>
            </a:pPr>
            <a:r>
              <a:rPr lang="ru-RU" sz="1600" dirty="0">
                <a:solidFill>
                  <a:schemeClr val="bg2">
                    <a:lumMod val="75000"/>
                  </a:schemeClr>
                </a:solidFill>
              </a:rPr>
              <a:t>Измеримый прирост производительности: </a:t>
            </a:r>
            <a:r>
              <a:rPr lang="ru-RU" sz="1600" dirty="0"/>
              <a:t>в синтетических тестах (операции над большими массивами) достигнуто ускорение до 20 раз по сравнению со стандартными алгоритмами.</a:t>
            </a:r>
          </a:p>
        </p:txBody>
      </p:sp>
      <p:sp>
        <p:nvSpPr>
          <p:cNvPr id="16" name="Подзаголовок 4">
            <a:extLst>
              <a:ext uri="{FF2B5EF4-FFF2-40B4-BE49-F238E27FC236}">
                <a16:creationId xmlns:a16="http://schemas.microsoft.com/office/drawing/2014/main" id="{D1A9EC76-1ED7-41C9-A13D-5EAFF3FF9423}"/>
              </a:ext>
            </a:extLst>
          </p:cNvPr>
          <p:cNvSpPr txBox="1">
            <a:spLocks/>
          </p:cNvSpPr>
          <p:nvPr/>
        </p:nvSpPr>
        <p:spPr>
          <a:xfrm>
            <a:off x="1138406" y="2034636"/>
            <a:ext cx="7346870" cy="626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Clr>
                <a:srgbClr val="F74629"/>
              </a:buClr>
              <a:buSzPct val="124000"/>
            </a:pPr>
            <a:r>
              <a:rPr lang="ru-RU" sz="1600" dirty="0">
                <a:solidFill>
                  <a:schemeClr val="bg2">
                    <a:lumMod val="75000"/>
                  </a:schemeClr>
                </a:solidFill>
              </a:rPr>
              <a:t>Простота интеграции: </a:t>
            </a:r>
            <a:r>
              <a:rPr lang="ru-RU" sz="1600" dirty="0"/>
              <a:t>замена вызова std::алгоритм на </a:t>
            </a:r>
            <a:r>
              <a:rPr lang="en-US" sz="1600" dirty="0"/>
              <a:t>simd_stl</a:t>
            </a:r>
            <a:r>
              <a:rPr lang="ru-RU" sz="1600" dirty="0"/>
              <a:t>::алгоритм без изменений кода.</a:t>
            </a:r>
          </a:p>
        </p:txBody>
      </p:sp>
      <p:sp>
        <p:nvSpPr>
          <p:cNvPr id="17" name="Подзаголовок 4">
            <a:extLst>
              <a:ext uri="{FF2B5EF4-FFF2-40B4-BE49-F238E27FC236}">
                <a16:creationId xmlns:a16="http://schemas.microsoft.com/office/drawing/2014/main" id="{4E2C5E3E-FBCD-449C-A3D6-2B4C8F7CD271}"/>
              </a:ext>
            </a:extLst>
          </p:cNvPr>
          <p:cNvSpPr txBox="1">
            <a:spLocks/>
          </p:cNvSpPr>
          <p:nvPr/>
        </p:nvSpPr>
        <p:spPr>
          <a:xfrm>
            <a:off x="1138406" y="2829395"/>
            <a:ext cx="7346870" cy="626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Clr>
                <a:srgbClr val="F74629"/>
              </a:buClr>
              <a:buSzPct val="124000"/>
            </a:pPr>
            <a:r>
              <a:rPr lang="ru-RU" sz="1600" dirty="0">
                <a:solidFill>
                  <a:schemeClr val="bg2">
                    <a:lumMod val="75000"/>
                  </a:schemeClr>
                </a:solidFill>
              </a:rPr>
              <a:t>Переносимость: </a:t>
            </a:r>
            <a:r>
              <a:rPr lang="ru-RU" sz="1600" dirty="0"/>
              <a:t>один код работает на разных процессорных архитектурах, библиотека сама выбирает оптимальный путь.</a:t>
            </a:r>
          </a:p>
        </p:txBody>
      </p:sp>
      <p:sp>
        <p:nvSpPr>
          <p:cNvPr id="18" name="Подзаголовок 4">
            <a:extLst>
              <a:ext uri="{FF2B5EF4-FFF2-40B4-BE49-F238E27FC236}">
                <a16:creationId xmlns:a16="http://schemas.microsoft.com/office/drawing/2014/main" id="{1CDA5DD5-DA98-471C-8AF1-887491CD5BF5}"/>
              </a:ext>
            </a:extLst>
          </p:cNvPr>
          <p:cNvSpPr txBox="1">
            <a:spLocks/>
          </p:cNvSpPr>
          <p:nvPr/>
        </p:nvSpPr>
        <p:spPr>
          <a:xfrm>
            <a:off x="1138406" y="3616556"/>
            <a:ext cx="7346870" cy="626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Clr>
                <a:srgbClr val="F74629"/>
              </a:buClr>
              <a:buSzPct val="124000"/>
            </a:pPr>
            <a:r>
              <a:rPr lang="ru-RU" sz="1600" dirty="0">
                <a:solidFill>
                  <a:schemeClr val="bg2">
                    <a:lumMod val="75000"/>
                  </a:schemeClr>
                </a:solidFill>
              </a:rPr>
              <a:t>Расширяемость: </a:t>
            </a:r>
            <a:r>
              <a:rPr lang="ru-RU" sz="1600" dirty="0"/>
              <a:t>архитектура позволяет добавлять новые алгоритмы и поддерживать новые наборы инструкций.</a:t>
            </a:r>
          </a:p>
        </p:txBody>
      </p:sp>
    </p:spTree>
    <p:extLst>
      <p:ext uri="{BB962C8B-B14F-4D97-AF65-F5344CB8AC3E}">
        <p14:creationId xmlns:p14="http://schemas.microsoft.com/office/powerpoint/2010/main" val="3246164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0" y="4694725"/>
            <a:ext cx="4566025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Сферы применения:</a:t>
            </a: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Сферы применения: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Сферы применения:</a:t>
            </a:r>
          </a:p>
        </p:txBody>
      </p:sp>
      <p:sp>
        <p:nvSpPr>
          <p:cNvPr id="258" name="Google Shape;258;p18"/>
          <p:cNvSpPr txBox="1">
            <a:spLocks noGrp="1"/>
          </p:cNvSpPr>
          <p:nvPr>
            <p:ph type="subTitle" idx="1"/>
          </p:nvPr>
        </p:nvSpPr>
        <p:spPr>
          <a:xfrm>
            <a:off x="4572000" y="46947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Сферы применения: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6194C6-07C6-49A4-9C7F-1D61AF1C7253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228796" y="805295"/>
            <a:ext cx="7573458" cy="2131870"/>
          </a:xfrm>
        </p:spPr>
        <p:txBody>
          <a:bodyPr/>
          <a:lstStyle/>
          <a:p>
            <a:pPr marL="0" indent="0"/>
            <a:r>
              <a:rPr lang="ru-RU" sz="2400" dirty="0">
                <a:solidFill>
                  <a:schemeClr val="accent2"/>
                </a:solidFill>
              </a:rPr>
              <a:t>БИБЛИОТЕКА ПРЕДНАЗНАЧЕНА ДЛЯ ЛЮБЫХ ЗАДАЧ, ТРЕБУЮЩИХ ВЫСОКОПРОИЗВОДИТЕЛЬНОЙ ОБРАБОТКИ БОЛЬШИХ ОБЪЕМОВ СТРУКТУРИРОВАННЫХ ДАННЫХ</a:t>
            </a:r>
            <a:endParaRPr lang="ru-BY" sz="2400" dirty="0">
              <a:solidFill>
                <a:schemeClr val="accent2"/>
              </a:solidFill>
            </a:endParaRP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59AC173F-A820-4D42-99F4-4FB8720E3377}"/>
              </a:ext>
            </a:extLst>
          </p:cNvPr>
          <p:cNvSpPr txBox="1">
            <a:spLocks/>
          </p:cNvSpPr>
          <p:nvPr/>
        </p:nvSpPr>
        <p:spPr>
          <a:xfrm>
            <a:off x="1228796" y="2788225"/>
            <a:ext cx="7661203" cy="122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3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ru-RU" sz="2400" dirty="0">
                <a:solidFill>
                  <a:srgbClr val="F74629"/>
                </a:solidFill>
              </a:rPr>
              <a:t>ЭТО НЕ ГОТОВОЕ ПРИЛОЖЕНИЕ, </a:t>
            </a:r>
          </a:p>
          <a:p>
            <a:pPr marL="0" indent="0"/>
            <a:r>
              <a:rPr lang="ru-RU" sz="2400" dirty="0">
                <a:solidFill>
                  <a:srgbClr val="F74629"/>
                </a:solidFill>
              </a:rPr>
              <a:t>А ВЫСОКООПТИМИЗИРОВАННЫЙ </a:t>
            </a:r>
          </a:p>
          <a:p>
            <a:pPr marL="0" indent="0"/>
            <a:r>
              <a:rPr lang="ru-RU" sz="2400" dirty="0">
                <a:solidFill>
                  <a:srgbClr val="F74629"/>
                </a:solidFill>
              </a:rPr>
              <a:t>СТРОИТЕЛЬНЫЙ БЛОК </a:t>
            </a:r>
            <a:endParaRPr lang="ru-BY" sz="2400" dirty="0">
              <a:solidFill>
                <a:srgbClr val="F746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735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0" y="4694725"/>
            <a:ext cx="4566025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Сферы применения:</a:t>
            </a: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Сферы применения: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Сферы применения:</a:t>
            </a:r>
          </a:p>
        </p:txBody>
      </p:sp>
      <p:sp>
        <p:nvSpPr>
          <p:cNvPr id="258" name="Google Shape;258;p18"/>
          <p:cNvSpPr txBox="1">
            <a:spLocks noGrp="1"/>
          </p:cNvSpPr>
          <p:nvPr>
            <p:ph type="subTitle" idx="1"/>
          </p:nvPr>
        </p:nvSpPr>
        <p:spPr>
          <a:xfrm>
            <a:off x="4572000" y="46947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Сферы применения: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6194C6-07C6-49A4-9C7F-1D61AF1C7253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164142" y="1082385"/>
            <a:ext cx="7661203" cy="2978729"/>
          </a:xfrm>
        </p:spPr>
        <p:txBody>
          <a:bodyPr/>
          <a:lstStyle/>
          <a:p>
            <a:pPr marL="0" indent="0"/>
            <a:r>
              <a:rPr lang="ru-RU" sz="2500" dirty="0"/>
              <a:t>− НАУЧНЫЕ ВЫЧИСЛЕНИЯ</a:t>
            </a:r>
          </a:p>
          <a:p>
            <a:pPr marL="0" indent="0"/>
            <a:endParaRPr lang="ru-RU" sz="800" dirty="0"/>
          </a:p>
          <a:p>
            <a:pPr marL="0" indent="0"/>
            <a:r>
              <a:rPr lang="ru-RU" sz="2500" dirty="0"/>
              <a:t>− МАШИННОЕ ОБУЧЕНИЕ И DATA SCIENCE </a:t>
            </a:r>
          </a:p>
          <a:p>
            <a:pPr marL="0" indent="0"/>
            <a:endParaRPr lang="ru-RU" sz="800" dirty="0"/>
          </a:p>
          <a:p>
            <a:pPr marL="0" indent="0"/>
            <a:r>
              <a:rPr lang="ru-RU" sz="2500" dirty="0"/>
              <a:t>− ОБРАБОТКА МЕДИА-ДАННЫХ</a:t>
            </a:r>
          </a:p>
          <a:p>
            <a:pPr marL="0" indent="0"/>
            <a:endParaRPr lang="ru-RU" sz="800" dirty="0"/>
          </a:p>
          <a:p>
            <a:pPr marL="0" indent="0"/>
            <a:r>
              <a:rPr lang="ru-RU" sz="2500" dirty="0"/>
              <a:t>− ФИНАНСОВЫЕ ТЕХНОЛОГИИ</a:t>
            </a:r>
          </a:p>
          <a:p>
            <a:pPr marL="0" indent="0"/>
            <a:endParaRPr lang="ru-RU" sz="800" dirty="0"/>
          </a:p>
          <a:p>
            <a:pPr marL="0" indent="0"/>
            <a:r>
              <a:rPr lang="ru-RU" sz="2500" dirty="0"/>
              <a:t>− ИГРОВЫЕ ДВИЖКИ И КОМПЬЮТЕРНАЯ ГРАФИКА</a:t>
            </a:r>
          </a:p>
          <a:p>
            <a:pPr marL="0" indent="0"/>
            <a:endParaRPr lang="ru-RU" sz="800" dirty="0"/>
          </a:p>
          <a:p>
            <a:pPr marL="0" indent="0"/>
            <a:r>
              <a:rPr lang="ru-RU" sz="2500" dirty="0"/>
              <a:t>− СИСТЕМЫ РЕАЛЬНОГО ВРЕМЕНИ</a:t>
            </a:r>
            <a:endParaRPr lang="ru-BY" sz="2500" dirty="0"/>
          </a:p>
        </p:txBody>
      </p:sp>
    </p:spTree>
    <p:extLst>
      <p:ext uri="{BB962C8B-B14F-4D97-AF65-F5344CB8AC3E}">
        <p14:creationId xmlns:p14="http://schemas.microsoft.com/office/powerpoint/2010/main" val="1643459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0" y="4694725"/>
            <a:ext cx="4566025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2"/>
                </a:solidFill>
                <a:sym typeface="Arial"/>
              </a:rPr>
              <a:t>МЕДИЦИНА</a:t>
            </a: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Сферы применения: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2"/>
                </a:solidFill>
                <a:sym typeface="Arial"/>
              </a:rPr>
              <a:t>МЕДИЦИНА</a:t>
            </a:r>
          </a:p>
        </p:txBody>
      </p:sp>
      <p:sp>
        <p:nvSpPr>
          <p:cNvPr id="258" name="Google Shape;258;p18"/>
          <p:cNvSpPr txBox="1">
            <a:spLocks noGrp="1"/>
          </p:cNvSpPr>
          <p:nvPr>
            <p:ph type="subTitle" idx="1"/>
          </p:nvPr>
        </p:nvSpPr>
        <p:spPr>
          <a:xfrm>
            <a:off x="4572000" y="46947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Сферы применения: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7FB14F-CF34-4693-861F-96EDBA39B06A}"/>
              </a:ext>
            </a:extLst>
          </p:cNvPr>
          <p:cNvSpPr txBox="1"/>
          <p:nvPr/>
        </p:nvSpPr>
        <p:spPr>
          <a:xfrm>
            <a:off x="1159162" y="700686"/>
            <a:ext cx="7656945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Обработка медицинских изображений: 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сокращение времени обработки снимка с минут до секунд, что критично для экстренной диагностики и позволяет врачу быстрее получить результат.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Геномные и биоинформатические расчёты: 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ускорение анализа в разы, что делает масштабные исследования (например, поиск мутаций в раковых клетках) практически выполнимыми в клинические сроки.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Мониторинг и анализ сигналов в реальном времени: 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позволяет обрабатывать данные с десятков датчиков одновременно, обеспечивая мгновенную обратную связь в системах телемедицины и хирургических мониторах.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Молекулярное моделирование и разработка лекарств: 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резкое увеличение числа симулируемых взаимодействий за единицу времени, ускоряющее доклинические исследования.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Оперативная аналитика больших данных: 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позволяет применять сложные аналитические модели к миллионам записей в электронных медкартах для выявления закономерностей и персонализации лечения.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384477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0" y="4694725"/>
            <a:ext cx="4566025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2"/>
                </a:solidFill>
                <a:sym typeface="Arial"/>
              </a:rPr>
              <a:t>ВОЕННЫЕ РАЗРАБОТКИ</a:t>
            </a: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Сферы применения: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2"/>
                </a:solidFill>
                <a:sym typeface="Arial"/>
              </a:rPr>
              <a:t>ВОЕННЫЕ РАЗРАБОТКИ</a:t>
            </a:r>
          </a:p>
        </p:txBody>
      </p:sp>
      <p:sp>
        <p:nvSpPr>
          <p:cNvPr id="258" name="Google Shape;258;p18"/>
          <p:cNvSpPr txBox="1">
            <a:spLocks noGrp="1"/>
          </p:cNvSpPr>
          <p:nvPr>
            <p:ph type="subTitle" idx="1"/>
          </p:nvPr>
        </p:nvSpPr>
        <p:spPr>
          <a:xfrm>
            <a:off x="4572000" y="46947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Сферы применения: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7FB14F-CF34-4693-861F-96EDBA39B06A}"/>
              </a:ext>
            </a:extLst>
          </p:cNvPr>
          <p:cNvSpPr txBox="1"/>
          <p:nvPr/>
        </p:nvSpPr>
        <p:spPr>
          <a:xfrm>
            <a:off x="1159162" y="683324"/>
            <a:ext cx="7656945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Симуляции и моделирование: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3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− Расчёт траекторий и баллистики: 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векторизованные алгоритмы для быстрого вычисления положения, скорости и поправок для тысяч объектов.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3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− Физическое моделирование полей: 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ускорение вычислений для гидродинамики, ударных волн или электромагнитных полей.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3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− Моделирование сложных систем: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ускорение симуляции работы РЛС, систем радиоэлектронной борьбы (РЭБ) или логистики.</a:t>
            </a:r>
            <a:endParaRPr lang="ru-BY" sz="13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60933A-DC8E-4863-B1DA-49CF0981EE64}"/>
              </a:ext>
            </a:extLst>
          </p:cNvPr>
          <p:cNvSpPr txBox="1"/>
          <p:nvPr/>
        </p:nvSpPr>
        <p:spPr>
          <a:xfrm>
            <a:off x="1159162" y="2518030"/>
            <a:ext cx="7656945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Обработка сигналов и данных в реальном времени: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3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− Радиолокация и сонар: 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векторизация быстрого преобразования Фурье (FFT), цифровых фильтров для обработки эхосигналов, что критично для обнаружения </a:t>
            </a:r>
          </a:p>
          <a:p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и сопровождения целей.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3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− Радиоэлектронная разведка: 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быстрый поиск и сравнение шаблонов </a:t>
            </a:r>
          </a:p>
          <a:p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в широкополосном сигнальном потоке для классификации источников излучения.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3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− Обработка телеметрии: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мгновенная агрегация и анализ потоков данных </a:t>
            </a:r>
          </a:p>
          <a:p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с летательных аппаратов или беспилотников.</a:t>
            </a:r>
            <a:endParaRPr lang="ru-BY" sz="13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3011155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0" y="4694725"/>
            <a:ext cx="4566025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2"/>
                </a:solidFill>
                <a:sym typeface="Arial"/>
              </a:rPr>
              <a:t>ВОЕННЫЕ РАЗРАБОТКИ</a:t>
            </a: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Сферы применения: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2"/>
                </a:solidFill>
                <a:sym typeface="Arial"/>
              </a:rPr>
              <a:t>ВОЕННЫЕ РАЗРАБОТКИ</a:t>
            </a:r>
          </a:p>
        </p:txBody>
      </p:sp>
      <p:sp>
        <p:nvSpPr>
          <p:cNvPr id="258" name="Google Shape;258;p18"/>
          <p:cNvSpPr txBox="1">
            <a:spLocks noGrp="1"/>
          </p:cNvSpPr>
          <p:nvPr>
            <p:ph type="subTitle" idx="1"/>
          </p:nvPr>
        </p:nvSpPr>
        <p:spPr>
          <a:xfrm>
            <a:off x="4572000" y="46947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Сферы применения: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7FB14F-CF34-4693-861F-96EDBA39B06A}"/>
              </a:ext>
            </a:extLst>
          </p:cNvPr>
          <p:cNvSpPr txBox="1"/>
          <p:nvPr/>
        </p:nvSpPr>
        <p:spPr>
          <a:xfrm>
            <a:off x="1141800" y="1009809"/>
            <a:ext cx="765694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Анализ изображений и видео: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3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− Разведка с БПЛА и спутников: 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векторизация операций на пикселях для быстрого применения фильтров, повышения чёткости, выделения контуров </a:t>
            </a:r>
          </a:p>
          <a:p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и объектов.</a:t>
            </a:r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3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− Распознавание целей: 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ускорение алгоритмов сопоставления образцов </a:t>
            </a:r>
          </a:p>
          <a:p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и предварительной обработки данных для нейросетей.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3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− Ночное видение и тепловизоры: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быстрая коррекция и усиление видеопотока </a:t>
            </a:r>
          </a:p>
          <a:p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с датчиков.</a:t>
            </a:r>
            <a:endParaRPr lang="ru-BY" sz="13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60933A-DC8E-4863-B1DA-49CF0981EE64}"/>
              </a:ext>
            </a:extLst>
          </p:cNvPr>
          <p:cNvSpPr txBox="1"/>
          <p:nvPr/>
        </p:nvSpPr>
        <p:spPr>
          <a:xfrm>
            <a:off x="1141800" y="2871857"/>
            <a:ext cx="765694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Криптография и кибербезопасность: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3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− Скоростное шифрование/дешифрование: 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векторизация основных операций (XOR, сдвиги, подстановки) в блочных и поточных шифрах для защиты каналов связи.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3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− Анализ сетевого трафика: 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ускорение поиска сигнатур вредоносного ПО </a:t>
            </a:r>
          </a:p>
          <a:p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и глубокого инспектирования пакетов.</a:t>
            </a:r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1095192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0" y="4694725"/>
            <a:ext cx="4566025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2"/>
                </a:solidFill>
                <a:sym typeface="Arial"/>
              </a:rPr>
              <a:t>ВОЕННЫЕ РАЗРАБОТКИ</a:t>
            </a: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Сферы применения: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2"/>
                </a:solidFill>
                <a:sym typeface="Arial"/>
              </a:rPr>
              <a:t>ВОЕННЫЕ РАЗРАБОТКИ</a:t>
            </a:r>
          </a:p>
        </p:txBody>
      </p:sp>
      <p:sp>
        <p:nvSpPr>
          <p:cNvPr id="258" name="Google Shape;258;p18"/>
          <p:cNvSpPr txBox="1">
            <a:spLocks noGrp="1"/>
          </p:cNvSpPr>
          <p:nvPr>
            <p:ph type="subTitle" idx="1"/>
          </p:nvPr>
        </p:nvSpPr>
        <p:spPr>
          <a:xfrm>
            <a:off x="4572000" y="46947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Сферы применения: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7FB14F-CF34-4693-861F-96EDBA39B06A}"/>
              </a:ext>
            </a:extLst>
          </p:cNvPr>
          <p:cNvSpPr txBox="1"/>
          <p:nvPr/>
        </p:nvSpPr>
        <p:spPr>
          <a:xfrm>
            <a:off x="1107076" y="706486"/>
            <a:ext cx="7656945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Навигация и управление: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3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− Инерциальные навигационные системы: 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высокочастотная обработка данных </a:t>
            </a:r>
          </a:p>
          <a:p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с акселерометров и гироскопов, фильтрация (Калмана) для точного позиционирования.</a:t>
            </a:r>
          </a:p>
          <a:p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ru-RU" sz="13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− Системы наведения: </a:t>
            </a:r>
            <a:r>
              <a:rPr lang="ru-RU" sz="13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выполнение алгоритмов коррекции курса с минимальной задержкой.</a:t>
            </a:r>
            <a:endParaRPr lang="ru-RU" sz="4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FD991C-1DAF-4E06-82C5-B4D97A029BA7}"/>
              </a:ext>
            </a:extLst>
          </p:cNvPr>
          <p:cNvSpPr txBox="1"/>
          <p:nvPr/>
        </p:nvSpPr>
        <p:spPr>
          <a:xfrm>
            <a:off x="1107075" y="2347775"/>
            <a:ext cx="76569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F74629"/>
                </a:solidFill>
                <a:latin typeface="Fira Code"/>
                <a:ea typeface="Fira Code"/>
                <a:cs typeface="Fira Code"/>
              </a:rPr>
              <a:t>ПРЕДОСТАВЛЯЕТ РАЗРАБОТЧИКАМ ВОЕННОГО ПРОГРАММНОГО ОБЕСПЕЧЕНИЯ УДОБНЫЙ ИНСТРУМЕНТ ДЛЯ РАСКРЫТИЯ </a:t>
            </a:r>
          </a:p>
          <a:p>
            <a:r>
              <a:rPr lang="ru-RU" sz="1800" dirty="0">
                <a:solidFill>
                  <a:srgbClr val="F74629"/>
                </a:solidFill>
                <a:latin typeface="Fira Code"/>
                <a:ea typeface="Fira Code"/>
                <a:cs typeface="Fira Code"/>
              </a:rPr>
              <a:t>ПОЛНОЙ ВЫЧИСЛИТЕЛЬНОЙ МОЩНОСТИ ОБОРУДОВАНИЯ В ЗАДАЧАХ, ГДЕ РЕШАЮЩИМИ ФАКТОРАМИ ЯВЛЯЮТСЯ СКОРОСТЬ, ЭФФЕКТИВНОСТЬ И СПОСОБНОСТЬ ОБРАБАТЫВАТЬ МАССИВЫ ДАННЫХ В УСЛОВИЯХ ЖЁСТКИХ ВРЕМЕННЫХ ОГРАНИЧЕНИЙ.</a:t>
            </a:r>
            <a:endParaRPr lang="ru-BY" sz="1800" dirty="0">
              <a:solidFill>
                <a:srgbClr val="F74629"/>
              </a:solidFill>
              <a:latin typeface="Fira Code"/>
              <a:ea typeface="Fira Code"/>
              <a:cs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368525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4606725" y="2218350"/>
            <a:ext cx="3739341" cy="7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bg2">
                    <a:lumMod val="75000"/>
                  </a:schemeClr>
                </a:solidFill>
              </a:rPr>
              <a:t>&lt;</a:t>
            </a:r>
            <a:r>
              <a:rPr lang="ru-RU" sz="4400" dirty="0">
                <a:solidFill>
                  <a:schemeClr val="bg2">
                    <a:lumMod val="75000"/>
                  </a:schemeClr>
                </a:solidFill>
              </a:rPr>
              <a:t> СТАТЬЯ </a:t>
            </a:r>
            <a:r>
              <a:rPr lang="en" sz="4400" dirty="0">
                <a:solidFill>
                  <a:schemeClr val="bg2">
                    <a:lumMod val="75000"/>
                  </a:schemeClr>
                </a:solidFill>
              </a:rPr>
              <a:t>&gt;</a:t>
            </a:r>
            <a:endParaRPr sz="4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0" y="4694725"/>
            <a:ext cx="4566025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Векторизация алгоритмов</a:t>
            </a: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Векторизация алгоритмов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стандартной библиотеки С++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8" name="Google Shape;258;p18"/>
          <p:cNvSpPr txBox="1">
            <a:spLocks noGrp="1"/>
          </p:cNvSpPr>
          <p:nvPr>
            <p:ph type="subTitle" idx="1"/>
          </p:nvPr>
        </p:nvSpPr>
        <p:spPr>
          <a:xfrm>
            <a:off x="4572000" y="46947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стандартной библиотеки С++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6C74CE0-4E18-4359-B1A4-AEA3AC53D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22" y="789249"/>
            <a:ext cx="2520580" cy="356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799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133128" y="1280663"/>
            <a:ext cx="7422085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solidFill>
                  <a:srgbClr val="F74629"/>
                </a:solidFill>
              </a:rPr>
              <a:t>ВЕКТОРИЗАЦИЯ</a:t>
            </a:r>
            <a:r>
              <a:rPr lang="en" sz="4000" dirty="0"/>
              <a:t> </a:t>
            </a:r>
            <a:r>
              <a:rPr lang="ru-RU" sz="4000" dirty="0">
                <a:solidFill>
                  <a:schemeClr val="accent2"/>
                </a:solidFill>
              </a:rPr>
              <a:t>АЛГОРИТМОВ</a:t>
            </a:r>
            <a:r>
              <a:rPr lang="en" sz="4000" dirty="0">
                <a:solidFill>
                  <a:schemeClr val="accent2"/>
                </a:solidFill>
              </a:rPr>
              <a:t> </a:t>
            </a:r>
            <a:endParaRPr sz="4000"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133128" y="3260950"/>
            <a:ext cx="7305535" cy="7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dirty="0">
                <a:solidFill>
                  <a:schemeClr val="bg2">
                    <a:lumMod val="75000"/>
                  </a:schemeClr>
                </a:solidFill>
              </a:rPr>
              <a:t>&lt;</a:t>
            </a:r>
            <a:r>
              <a:rPr lang="ru-RU" sz="1850" dirty="0">
                <a:solidFill>
                  <a:schemeClr val="bg2">
                    <a:lumMod val="75000"/>
                  </a:schemeClr>
                </a:solidFill>
              </a:rPr>
              <a:t> ВЕКТОРНЫЕ РАСШИРЕНИЯ – В СТАНДАРТНЫЕ АЛГОРИТМЫ </a:t>
            </a:r>
            <a:r>
              <a:rPr lang="en" sz="1850" dirty="0">
                <a:solidFill>
                  <a:schemeClr val="bg2">
                    <a:lumMod val="75000"/>
                  </a:schemeClr>
                </a:solidFill>
              </a:rPr>
              <a:t>&gt;</a:t>
            </a:r>
            <a:endParaRPr sz="18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0" y="4694725"/>
            <a:ext cx="4566025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Ключевые особенности реализации: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5" name="Google Shape;255;p18"/>
          <p:cNvSpPr txBox="1">
            <a:spLocks noGrp="1"/>
          </p:cNvSpPr>
          <p:nvPr>
            <p:ph type="subTitle" idx="2"/>
          </p:nvPr>
        </p:nvSpPr>
        <p:spPr>
          <a:xfrm>
            <a:off x="1133134" y="1832538"/>
            <a:ext cx="730553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>
                <a:solidFill>
                  <a:schemeClr val="accent6"/>
                </a:solidFill>
              </a:rPr>
              <a:t>стандартной библиотеки С++</a:t>
            </a:r>
            <a:r>
              <a:rPr lang="en" sz="3500" dirty="0">
                <a:solidFill>
                  <a:schemeClr val="accent6"/>
                </a:solidFill>
              </a:rPr>
              <a:t> </a:t>
            </a:r>
            <a:endParaRPr sz="3500" dirty="0">
              <a:solidFill>
                <a:schemeClr val="accent6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Цель и задачи проекта: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3"/>
                </a:solidFill>
              </a:rPr>
              <a:t>Актуальность и проблема: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8" name="Google Shape;258;p18"/>
          <p:cNvSpPr txBox="1">
            <a:spLocks noGrp="1"/>
          </p:cNvSpPr>
          <p:nvPr>
            <p:ph type="subTitle" idx="1"/>
          </p:nvPr>
        </p:nvSpPr>
        <p:spPr>
          <a:xfrm>
            <a:off x="4572000" y="46947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Результаты и преимущества:</a:t>
            </a:r>
            <a:endParaRPr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534371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1001</Words>
  <Application>Microsoft Office PowerPoint</Application>
  <PresentationFormat>Экран (16:9)</PresentationFormat>
  <Paragraphs>155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Fira Code</vt:lpstr>
      <vt:lpstr>Wingdings</vt:lpstr>
      <vt:lpstr>Programming Language Workshop for Beginners by Slidesgo</vt:lpstr>
      <vt:lpstr>ВЕКТОРИЗАЦИЯ АЛГОРИТМОВ </vt:lpstr>
      <vt:lpstr>ЦЕЛЬ:</vt:lpstr>
      <vt:lpstr>ЗАДАЧИ:</vt:lpstr>
      <vt:lpstr>Недоиспользование ресурсов: стандартные алгоритмы (std::transform, std::reduce, std::sort и др.) работают скалярно, обрабатывая по одному элементу за такт, в то время как современные процессоры оснащены SIMD (Single Instruction, Multiple Data) регистрами и инструкциями (SSE, AVX, AVX-512).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ВЕКТОРИЗАЦИЯ АЛГОРИТМОВ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ВЕКТОРИЗАЦИЯ АЛГОРИТМОВ</dc:title>
  <dc:creator>Diablo</dc:creator>
  <cp:lastModifiedBy>Diablo</cp:lastModifiedBy>
  <cp:revision>32</cp:revision>
  <dcterms:modified xsi:type="dcterms:W3CDTF">2026-02-08T16:00:45Z</dcterms:modified>
</cp:coreProperties>
</file>